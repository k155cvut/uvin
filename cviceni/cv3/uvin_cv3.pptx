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>
        <p:scale>
          <a:sx n="100" d="100"/>
          <a:sy n="100" d="100"/>
        </p:scale>
        <p:origin x="2552" y="1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155FD2E-934F-5CC2-7429-BDACE34C19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D814B519-0DEE-CC8E-0BE6-408218F9B2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2D35EF2-F9D5-EF92-EB06-8AC715C0E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A3E0D-D973-40D2-9335-A8A56B718845}" type="datetimeFigureOut">
              <a:rPr lang="cs-CZ" smtClean="0"/>
              <a:t>21.10.2026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8D3EE73-C209-897A-E51B-1332DAEA0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6C6F146-4EE0-D379-35D6-C6A8E00F7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13602-9AE6-4D03-8BD5-98412E56B79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38827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5838E1C-A6E2-9D0F-EAE9-B9C3AC73B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BBAD1C6-0700-A787-F1DA-FE1AC0BFA6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BC9865F-8D94-98E5-890A-CA7F27708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A3E0D-D973-40D2-9335-A8A56B718845}" type="datetimeFigureOut">
              <a:rPr lang="cs-CZ" smtClean="0"/>
              <a:t>21.10.2026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CE6F82F-7580-1533-0CA8-69203F0B3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42F972F-3503-A763-5665-D351CA028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13602-9AE6-4D03-8BD5-98412E56B79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39616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5826C87-4BA7-B581-6B23-E0F9A4B27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7BB1FA7-F255-19ED-521A-A096B96AA2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FA84ECC-7285-5453-4909-8F990AC05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A3E0D-D973-40D2-9335-A8A56B718845}" type="datetimeFigureOut">
              <a:rPr lang="cs-CZ" smtClean="0"/>
              <a:t>21.10.2026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0740A16-E52F-5E92-CAE2-E5035E84A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A28251A-8CDB-259A-CD4E-F7AB5D726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13602-9AE6-4D03-8BD5-98412E56B79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18718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F6A7B32-8552-A9CE-E107-CB1E77188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9B3C913-7878-9640-09AF-2DB607C663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64E31F91-EE67-272F-58C3-83628EA0C3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6B3BED1E-4420-A102-FE32-277506837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A3E0D-D973-40D2-9335-A8A56B718845}" type="datetimeFigureOut">
              <a:rPr lang="cs-CZ" smtClean="0"/>
              <a:t>21.10.2026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084D36BC-DA64-2CE7-4CD1-C1C3DE85E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8FB9E9F4-FAB2-5F3D-F534-E1F1D2464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13602-9AE6-4D03-8BD5-98412E56B79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57002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2883A7E-B8FE-0D00-3885-9D1710AF3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56E50FD-71C3-C2FA-97E6-24479BB320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6B555CBD-57AE-095B-1A48-6DF2D3394D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9DCCEA46-6C3F-EE86-18FD-CB3F24B6DB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E3A03487-A961-345A-B4C8-3131978EEE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E684C644-0351-109A-2F5E-57D713642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A3E0D-D973-40D2-9335-A8A56B718845}" type="datetimeFigureOut">
              <a:rPr lang="cs-CZ" smtClean="0"/>
              <a:t>21.10.2026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B6BB7144-49F2-F673-24A9-ACB0A8054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DEB09F65-55E6-10E2-8E5D-D23B2BE8F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13602-9AE6-4D03-8BD5-98412E56B79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58036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D1FDFE5-9C14-8B38-9BE5-34CDDD38B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4398E4E2-6373-CEC0-BAAE-2483B8BAB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A3E0D-D973-40D2-9335-A8A56B718845}" type="datetimeFigureOut">
              <a:rPr lang="cs-CZ" smtClean="0"/>
              <a:t>21.10.2026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C0B5F6F-BB46-B886-E386-73A6F3B5A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10A36415-1EAA-EFEF-77B0-C690E6415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13602-9AE6-4D03-8BD5-98412E56B79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2430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33C935C9-1B10-EF71-C68F-B83D253B9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A3E0D-D973-40D2-9335-A8A56B718845}" type="datetimeFigureOut">
              <a:rPr lang="cs-CZ" smtClean="0"/>
              <a:t>21.10.2026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00140E01-B607-F469-C885-4B0BEF42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995C4E70-5BC3-5BB8-50AB-D4728EE31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13602-9AE6-4D03-8BD5-98412E56B79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32973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E9F0AF9-A823-0089-3FEE-B90CB60B0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2F12150-A0B3-884C-A3B1-E734AE8716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D0F37540-E528-D796-E3CE-DC685221A5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BCA37AA4-66EF-452B-9112-B6DB871CC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A3E0D-D973-40D2-9335-A8A56B718845}" type="datetimeFigureOut">
              <a:rPr lang="cs-CZ" smtClean="0"/>
              <a:t>21.10.2026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C35C700F-EBB0-5876-67B5-8E31C451B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BFBF7A03-AFD5-2F80-9A64-3F7D812D5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13602-9AE6-4D03-8BD5-98412E56B79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55674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A2BC1C9-93EE-2AA4-7F5E-836849338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A086CFFD-8B22-B070-1758-899FC353814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C90F1794-0B54-1811-8BD7-F16265A019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FA3EC553-C7DF-10AB-4DDB-95B9A1877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A3E0D-D973-40D2-9335-A8A56B718845}" type="datetimeFigureOut">
              <a:rPr lang="cs-CZ" smtClean="0"/>
              <a:t>21.10.2026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F9902DFD-B907-3191-7473-A59685B48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2319D1E1-40FE-1366-D5E7-96DEF60D4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13602-9AE6-4D03-8BD5-98412E56B79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20694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B6D2C20-F0D7-1816-AB8E-953CE1F4D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66172660-2D40-631E-1596-B6AE876BB8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B3C1D7D-4C41-561F-5616-BE446DEBB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A3E0D-D973-40D2-9335-A8A56B718845}" type="datetimeFigureOut">
              <a:rPr lang="cs-CZ" smtClean="0"/>
              <a:t>21.10.2026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608B8E5-D3E0-F7A4-DC31-A860E19A4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193DF67-FB3C-528A-90B1-6D45311E6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13602-9AE6-4D03-8BD5-98412E56B79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49959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5185FE95-197C-6FE2-BA28-7C12FD69D0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088D6D28-D631-68C9-51A9-521C483DC5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B9A76A4-FF33-AA04-6A00-90B46BC81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A3E0D-D973-40D2-9335-A8A56B718845}" type="datetimeFigureOut">
              <a:rPr lang="cs-CZ" smtClean="0"/>
              <a:t>21.10.2026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A1BD535-EC63-7DEF-9F1C-6B373AFDA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A48617C-119F-AAC0-9C38-CEFFCD1D1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13602-9AE6-4D03-8BD5-98412E56B79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08471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1C03EF9B-6750-FEA1-5B2E-593AE86CA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E4BA0757-9698-1F71-CA4C-F058F25B04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39E78F1-AE16-91E5-FD7E-964ABA207C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9A3E0D-D973-40D2-9335-A8A56B718845}" type="datetimeFigureOut">
              <a:rPr lang="cs-CZ" smtClean="0"/>
              <a:t>21.10.2026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79D12CA-093C-1BA5-71AD-4F7E15E2EE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4DFEFED-50A4-400D-82C7-B2804D97CB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813602-9AE6-4D03-8BD5-98412E56B79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25811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2E9F7DA-595D-28E4-4A12-DF47D18102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ÚVIN, cvičení 3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F78DEA50-29B0-8C16-C56B-3EEC32F90D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Datové struktury II.</a:t>
            </a:r>
          </a:p>
        </p:txBody>
      </p:sp>
    </p:spTree>
    <p:extLst>
      <p:ext uri="{BB962C8B-B14F-4D97-AF65-F5344CB8AC3E}">
        <p14:creationId xmlns:p14="http://schemas.microsoft.com/office/powerpoint/2010/main" val="128969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F98940-4D68-314E-C6BA-4EA61E5A0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Příklad 1: Bankomat</a:t>
            </a:r>
          </a:p>
        </p:txBody>
      </p:sp>
      <p:graphicFrame>
        <p:nvGraphicFramePr>
          <p:cNvPr id="5" name="Zástupný obsah 4">
            <a:extLst>
              <a:ext uri="{FF2B5EF4-FFF2-40B4-BE49-F238E27FC236}">
                <a16:creationId xmlns:a16="http://schemas.microsoft.com/office/drawing/2014/main" id="{6B9C5DA7-89BF-2717-2A5D-7A93AC753D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6005074"/>
              </p:ext>
            </p:extLst>
          </p:nvPr>
        </p:nvGraphicFramePr>
        <p:xfrm>
          <a:off x="1872142" y="3651250"/>
          <a:ext cx="8599008" cy="2133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49752">
                  <a:extLst>
                    <a:ext uri="{9D8B030D-6E8A-4147-A177-3AD203B41FA5}">
                      <a16:colId xmlns:a16="http://schemas.microsoft.com/office/drawing/2014/main" val="44495253"/>
                    </a:ext>
                  </a:extLst>
                </a:gridCol>
                <a:gridCol w="2149752">
                  <a:extLst>
                    <a:ext uri="{9D8B030D-6E8A-4147-A177-3AD203B41FA5}">
                      <a16:colId xmlns:a16="http://schemas.microsoft.com/office/drawing/2014/main" val="2554061561"/>
                    </a:ext>
                  </a:extLst>
                </a:gridCol>
                <a:gridCol w="2149752">
                  <a:extLst>
                    <a:ext uri="{9D8B030D-6E8A-4147-A177-3AD203B41FA5}">
                      <a16:colId xmlns:a16="http://schemas.microsoft.com/office/drawing/2014/main" val="1257558154"/>
                    </a:ext>
                  </a:extLst>
                </a:gridCol>
                <a:gridCol w="2149752">
                  <a:extLst>
                    <a:ext uri="{9D8B030D-6E8A-4147-A177-3AD203B41FA5}">
                      <a16:colId xmlns:a16="http://schemas.microsoft.com/office/drawing/2014/main" val="3105658921"/>
                    </a:ext>
                  </a:extLst>
                </a:gridCol>
              </a:tblGrid>
              <a:tr h="222765"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000" dirty="0">
                          <a:effectLst/>
                        </a:rPr>
                        <a:t>Krok</a:t>
                      </a:r>
                      <a:endParaRPr lang="cs-CZ" sz="20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Bankovka</a:t>
                      </a:r>
                      <a:endParaRPr lang="cs-CZ" sz="20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Počet</a:t>
                      </a:r>
                      <a:endParaRPr lang="cs-CZ" sz="20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Zbývá vydat</a:t>
                      </a:r>
                      <a:endParaRPr lang="cs-CZ" sz="20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028023151"/>
                  </a:ext>
                </a:extLst>
              </a:tr>
              <a:tr h="222765"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000" dirty="0">
                          <a:effectLst/>
                        </a:rPr>
                        <a:t>0</a:t>
                      </a:r>
                      <a:endParaRPr lang="cs-CZ" sz="20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-</a:t>
                      </a:r>
                      <a:endParaRPr lang="cs-CZ" sz="20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endParaRPr lang="cs-CZ" sz="20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endParaRPr lang="cs-CZ" sz="20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50307109"/>
                  </a:ext>
                </a:extLst>
              </a:tr>
              <a:tr h="222765"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000" dirty="0">
                          <a:effectLst/>
                        </a:rPr>
                        <a:t>1</a:t>
                      </a:r>
                      <a:endParaRPr lang="cs-CZ" sz="20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5000</a:t>
                      </a:r>
                      <a:endParaRPr lang="cs-CZ" sz="20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endParaRPr lang="cs-CZ" sz="20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endParaRPr lang="cs-CZ" sz="20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82273420"/>
                  </a:ext>
                </a:extLst>
              </a:tr>
              <a:tr h="222765"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2</a:t>
                      </a:r>
                      <a:endParaRPr lang="cs-CZ" sz="20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000" dirty="0">
                          <a:effectLst/>
                        </a:rPr>
                        <a:t>2000</a:t>
                      </a:r>
                      <a:endParaRPr lang="cs-CZ" sz="20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endParaRPr lang="cs-CZ" sz="20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endParaRPr lang="cs-CZ" sz="20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349919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3</a:t>
                      </a:r>
                      <a:endParaRPr lang="cs-CZ" sz="20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1000</a:t>
                      </a:r>
                      <a:endParaRPr lang="cs-CZ" sz="20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endParaRPr lang="cs-CZ" sz="20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endParaRPr lang="cs-CZ" sz="20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52208322"/>
                  </a:ext>
                </a:extLst>
              </a:tr>
              <a:tr h="222765"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4</a:t>
                      </a:r>
                      <a:endParaRPr lang="cs-CZ" sz="20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200</a:t>
                      </a:r>
                      <a:endParaRPr lang="cs-CZ" sz="20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endParaRPr lang="cs-CZ" sz="20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endParaRPr lang="cs-CZ" sz="20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68199791"/>
                  </a:ext>
                </a:extLst>
              </a:tr>
              <a:tr h="222765"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000" dirty="0">
                          <a:effectLst/>
                        </a:rPr>
                        <a:t>5</a:t>
                      </a:r>
                      <a:endParaRPr lang="cs-CZ" sz="20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100</a:t>
                      </a:r>
                      <a:endParaRPr lang="cs-CZ" sz="20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endParaRPr lang="cs-CZ" sz="20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endParaRPr lang="cs-CZ" sz="20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53886911"/>
                  </a:ext>
                </a:extLst>
              </a:tr>
            </a:tbl>
          </a:graphicData>
        </a:graphic>
      </p:graphicFrame>
      <p:sp>
        <p:nvSpPr>
          <p:cNvPr id="7" name="TextovéPole 6">
            <a:extLst>
              <a:ext uri="{FF2B5EF4-FFF2-40B4-BE49-F238E27FC236}">
                <a16:creationId xmlns:a16="http://schemas.microsoft.com/office/drawing/2014/main" id="{451CBC82-0E5C-920D-94FB-82D3ED09A7A9}"/>
              </a:ext>
            </a:extLst>
          </p:cNvPr>
          <p:cNvSpPr txBox="1"/>
          <p:nvPr/>
        </p:nvSpPr>
        <p:spPr>
          <a:xfrm>
            <a:off x="692092" y="1730036"/>
            <a:ext cx="873818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800" dirty="0" err="1">
                <a:effectLst/>
                <a:latin typeface="+mn-lt"/>
                <a:ea typeface="Cambria" panose="02040503050406030204" pitchFamily="18" charset="0"/>
                <a:cs typeface="Times New Roman" panose="02020603050405020304" pitchFamily="18" charset="0"/>
              </a:rPr>
              <a:t>Bankomat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  <a:cs typeface="Times New Roman" panose="02020603050405020304" pitchFamily="18" charset="0"/>
              </a:rPr>
              <a:t>má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  <a:cs typeface="Times New Roman" panose="02020603050405020304" pitchFamily="18" charset="0"/>
              </a:rPr>
              <a:t>vydat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  <a:cs typeface="Times New Roman" panose="02020603050405020304" pitchFamily="18" charset="0"/>
              </a:rPr>
              <a:t> 8 300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  <a:cs typeface="Times New Roman" panose="02020603050405020304" pitchFamily="18" charset="0"/>
              </a:rPr>
              <a:t>Kč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  <a:cs typeface="Times New Roman" panose="02020603050405020304" pitchFamily="18" charset="0"/>
              </a:rPr>
              <a:t>. </a:t>
            </a:r>
            <a:endParaRPr lang="cs-CZ" sz="1800" dirty="0">
              <a:effectLst/>
              <a:latin typeface="+mn-lt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800" dirty="0">
                <a:effectLst/>
                <a:latin typeface="+mn-lt"/>
                <a:ea typeface="Cambria" panose="02040503050406030204" pitchFamily="18" charset="0"/>
                <a:cs typeface="Times New Roman" panose="02020603050405020304" pitchFamily="18" charset="0"/>
              </a:rPr>
              <a:t>K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  <a:cs typeface="Times New Roman" panose="02020603050405020304" pitchFamily="18" charset="0"/>
              </a:rPr>
              <a:t>dispozici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  <a:cs typeface="Times New Roman" panose="02020603050405020304" pitchFamily="18" charset="0"/>
              </a:rPr>
              <a:t>jsou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  <a:cs typeface="Times New Roman" panose="02020603050405020304" pitchFamily="18" charset="0"/>
              </a:rPr>
              <a:t>bankovky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  <a:cs typeface="Times New Roman" panose="02020603050405020304" pitchFamily="18" charset="0"/>
              </a:rPr>
              <a:t> 5 000, 2 000, 1 000, 500, 200 a 100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  <a:cs typeface="Times New Roman" panose="02020603050405020304" pitchFamily="18" charset="0"/>
              </a:rPr>
              <a:t>Kč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  <a:cs typeface="Times New Roman" panose="02020603050405020304" pitchFamily="18" charset="0"/>
              </a:rPr>
              <a:t>.</a:t>
            </a:r>
            <a:endParaRPr lang="cs-CZ" sz="1800" dirty="0">
              <a:effectLst/>
              <a:latin typeface="+mn-lt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800" dirty="0" err="1">
                <a:effectLst/>
                <a:latin typeface="+mn-lt"/>
                <a:ea typeface="Cambria" panose="02040503050406030204" pitchFamily="18" charset="0"/>
                <a:cs typeface="Times New Roman" panose="02020603050405020304" pitchFamily="18" charset="0"/>
              </a:rPr>
              <a:t>Navrhněte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  <a:cs typeface="Times New Roman" panose="02020603050405020304" pitchFamily="18" charset="0"/>
              </a:rPr>
              <a:t>algoritmus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  <a:cs typeface="Times New Roman" panose="02020603050405020304" pitchFamily="18" charset="0"/>
              </a:rPr>
              <a:t>který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  <a:cs typeface="Times New Roman" panose="02020603050405020304" pitchFamily="18" charset="0"/>
              </a:rPr>
              <a:t>tuto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  <a:cs typeface="Times New Roman" panose="02020603050405020304" pitchFamily="18" charset="0"/>
              </a:rPr>
              <a:t>částku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  <a:cs typeface="Times New Roman" panose="02020603050405020304" pitchFamily="18" charset="0"/>
              </a:rPr>
              <a:t>vyplatí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  <a:cs typeface="Times New Roman" panose="02020603050405020304" pitchFamily="18" charset="0"/>
              </a:rPr>
              <a:t>nejmenším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  <a:cs typeface="Times New Roman" panose="02020603050405020304" pitchFamily="18" charset="0"/>
              </a:rPr>
              <a:t>počtem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  <a:cs typeface="Times New Roman" panose="02020603050405020304" pitchFamily="18" charset="0"/>
              </a:rPr>
              <a:t>bankovek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  <a:cs typeface="Times New Roman" panose="02020603050405020304" pitchFamily="18" charset="0"/>
              </a:rPr>
              <a:t>.</a:t>
            </a:r>
            <a:endParaRPr lang="cs-CZ" sz="1800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6956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CB00F0E-6016-B4F8-9D3A-CE8C944A5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Příklad 2: </a:t>
            </a:r>
            <a:r>
              <a:rPr lang="en-US" dirty="0" err="1"/>
              <a:t>Skalární</a:t>
            </a:r>
            <a:r>
              <a:rPr lang="en-US" dirty="0"/>
              <a:t> a </a:t>
            </a:r>
            <a:r>
              <a:rPr lang="en-US" dirty="0" err="1"/>
              <a:t>vektorový</a:t>
            </a:r>
            <a:r>
              <a:rPr lang="en-US" dirty="0"/>
              <a:t> </a:t>
            </a:r>
            <a:r>
              <a:rPr lang="en-US" dirty="0" err="1"/>
              <a:t>součin</a:t>
            </a:r>
            <a:endParaRPr lang="cs-CZ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Zástupný obsah 2">
                <a:extLst>
                  <a:ext uri="{FF2B5EF4-FFF2-40B4-BE49-F238E27FC236}">
                    <a16:creationId xmlns:a16="http://schemas.microsoft.com/office/drawing/2014/main" id="{0EAD17E8-1F99-121E-CCC4-64278B1720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 err="1"/>
                  <a:t>Jsou</a:t>
                </a:r>
                <a:r>
                  <a:rPr lang="en-US" dirty="0"/>
                  <a:t> </a:t>
                </a:r>
                <a:r>
                  <a:rPr lang="en-US" dirty="0" err="1"/>
                  <a:t>dány</a:t>
                </a:r>
                <a:r>
                  <a:rPr lang="en-US" dirty="0"/>
                  <a:t> </a:t>
                </a:r>
                <a:r>
                  <a:rPr lang="en-US" dirty="0" err="1"/>
                  <a:t>vektory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cs-CZ" i="1"/>
                      <m:t>𝑢</m:t>
                    </m:r>
                    <m:r>
                      <a:rPr lang="cs-CZ"/>
                      <m:t>=</m:t>
                    </m:r>
                    <m:d>
                      <m:dPr>
                        <m:ctrlPr>
                          <a:rPr lang="cs-CZ" i="1"/>
                        </m:ctrlPr>
                      </m:dPr>
                      <m:e>
                        <m:r>
                          <a:rPr lang="cs-CZ" i="1"/>
                          <m:t>1</m:t>
                        </m:r>
                        <m:r>
                          <a:rPr lang="cs-CZ"/>
                          <m:t>,</m:t>
                        </m:r>
                        <m:r>
                          <a:rPr lang="cs-CZ" i="1"/>
                          <m:t>0</m:t>
                        </m:r>
                        <m:r>
                          <a:rPr lang="cs-CZ"/>
                          <m:t>,</m:t>
                        </m:r>
                        <m:r>
                          <a:rPr lang="cs-CZ" i="1"/>
                          <m:t>0</m:t>
                        </m:r>
                      </m:e>
                    </m:d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cs-CZ" i="1"/>
                      <m:t>𝑣</m:t>
                    </m:r>
                    <m:r>
                      <a:rPr lang="cs-CZ"/>
                      <m:t>=</m:t>
                    </m:r>
                    <m:d>
                      <m:dPr>
                        <m:ctrlPr>
                          <a:rPr lang="cs-CZ" i="1"/>
                        </m:ctrlPr>
                      </m:dPr>
                      <m:e>
                        <m:r>
                          <a:rPr lang="cs-CZ" i="1"/>
                          <m:t>0</m:t>
                        </m:r>
                        <m:r>
                          <a:rPr lang="cs-CZ"/>
                          <m:t>,</m:t>
                        </m:r>
                        <m:r>
                          <a:rPr lang="cs-CZ" i="1"/>
                          <m:t>0</m:t>
                        </m:r>
                        <m:r>
                          <a:rPr lang="cs-CZ"/>
                          <m:t>,</m:t>
                        </m:r>
                        <m:r>
                          <a:rPr lang="cs-CZ" i="1"/>
                          <m:t>1</m:t>
                        </m:r>
                      </m:e>
                    </m:d>
                  </m:oMath>
                </a14:m>
                <a:r>
                  <a:rPr lang="en-US" dirty="0"/>
                  <a:t>. </a:t>
                </a:r>
                <a:endParaRPr lang="cs-CZ" dirty="0"/>
              </a:p>
              <a:p>
                <a:pPr marL="0" indent="0">
                  <a:buNone/>
                </a:pPr>
                <a:r>
                  <a:rPr lang="en-US" dirty="0" err="1"/>
                  <a:t>Spočtěte</a:t>
                </a:r>
                <a:r>
                  <a:rPr lang="en-US" dirty="0"/>
                  <a:t> </a:t>
                </a:r>
                <a:r>
                  <a:rPr lang="en-US" dirty="0" err="1"/>
                  <a:t>skalární</a:t>
                </a:r>
                <a:r>
                  <a:rPr lang="en-US" dirty="0"/>
                  <a:t> a </a:t>
                </a:r>
                <a:r>
                  <a:rPr lang="en-US" dirty="0" err="1"/>
                  <a:t>vektorový</a:t>
                </a:r>
                <a:r>
                  <a:rPr lang="en-US" dirty="0"/>
                  <a:t> </a:t>
                </a:r>
                <a:r>
                  <a:rPr lang="en-US" dirty="0" err="1"/>
                  <a:t>součin</a:t>
                </a:r>
                <a:r>
                  <a:rPr lang="en-US" dirty="0"/>
                  <a:t>.</a:t>
                </a:r>
                <a:endParaRPr lang="cs-CZ" dirty="0"/>
              </a:p>
              <a:p>
                <a:pPr marL="0" indent="0">
                  <a:buNone/>
                </a:pPr>
                <a:endParaRPr lang="cs-CZ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cs-CZ" i="1"/>
                          </m:ctrlPr>
                        </m:mPr>
                        <m:mr>
                          <m:e>
                            <m:r>
                              <a:rPr lang="cs-CZ" i="1"/>
                              <m:t>𝑢</m:t>
                            </m:r>
                            <m:r>
                              <a:rPr lang="cs-CZ"/>
                              <m:t>⋅</m:t>
                            </m:r>
                            <m:r>
                              <a:rPr lang="cs-CZ" i="1"/>
                              <m:t>𝑣</m:t>
                            </m:r>
                          </m:e>
                          <m:e>
                            <m:r>
                              <a:rPr lang="cs-CZ"/>
                              <m:t>=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cs-CZ" i="1"/>
                                </m:ctrlPr>
                              </m:naryPr>
                              <m:sub>
                                <m:r>
                                  <a:rPr lang="cs-CZ" i="1"/>
                                  <m:t>𝑖</m:t>
                                </m:r>
                                <m:r>
                                  <a:rPr lang="cs-CZ"/>
                                  <m:t>=</m:t>
                                </m:r>
                                <m:r>
                                  <a:rPr lang="cs-CZ" i="1"/>
                                  <m:t>1</m:t>
                                </m:r>
                              </m:sub>
                              <m:sup>
                                <m:r>
                                  <a:rPr lang="cs-CZ" i="1"/>
                                  <m:t>3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cs-CZ" i="1"/>
                                    </m:ctrlPr>
                                  </m:sSubPr>
                                  <m:e>
                                    <m:r>
                                      <a:rPr lang="cs-CZ" i="1"/>
                                      <m:t>𝑢</m:t>
                                    </m:r>
                                  </m:e>
                                  <m:sub>
                                    <m:r>
                                      <a:rPr lang="cs-CZ" i="1"/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sSub>
                              <m:sSubPr>
                                <m:ctrlPr>
                                  <a:rPr lang="cs-CZ" i="1"/>
                                </m:ctrlPr>
                              </m:sSubPr>
                              <m:e>
                                <m:r>
                                  <a:rPr lang="cs-CZ" i="1"/>
                                  <m:t>𝑣</m:t>
                                </m:r>
                              </m:e>
                              <m:sub>
                                <m:r>
                                  <a:rPr lang="cs-CZ" i="1"/>
                                  <m:t>𝑖</m:t>
                                </m:r>
                              </m:sub>
                            </m:sSub>
                            <m:r>
                              <a:rPr lang="cs-CZ"/>
                              <m:t>.</m:t>
                            </m:r>
                          </m:e>
                        </m:mr>
                        <m:mr>
                          <m:e>
                            <m:r>
                              <a:rPr lang="cs-CZ" i="1"/>
                              <m:t>𝑢</m:t>
                            </m:r>
                            <m:r>
                              <a:rPr lang="cs-CZ"/>
                              <m:t>×</m:t>
                            </m:r>
                            <m:r>
                              <a:rPr lang="cs-CZ" i="1"/>
                              <m:t>𝑣</m:t>
                            </m:r>
                          </m:e>
                          <m:e>
                            <m:r>
                              <a:rPr lang="cs-CZ"/>
                              <m:t>=</m:t>
                            </m:r>
                            <m:d>
                              <m:dPr>
                                <m:ctrlPr>
                                  <a:rPr lang="cs-CZ" i="1"/>
                                </m:ctrlPr>
                              </m:dPr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cs-CZ" i="1"/>
                                    </m:ctrlPr>
                                  </m:mPr>
                                  <m:m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cs-CZ" i="1"/>
                                          </m:ctrlPr>
                                        </m:dPr>
                                        <m:e>
                                          <m:m>
                                            <m:mPr>
                                              <m:plcHide m:val="on"/>
                                              <m:mcs>
                                                <m:mc>
                                                  <m:mcPr>
                                                    <m:count m:val="2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cs-CZ" i="1"/>
                                              </m:ctrlPr>
                                            </m:mPr>
                                            <m:m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cs-CZ" i="1"/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cs-CZ" i="1"/>
                                                      <m:t>𝑢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cs-CZ" i="1"/>
                                                      <m:t>2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cs-CZ" i="1"/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cs-CZ" i="1"/>
                                                      <m:t>𝑢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cs-CZ" i="1"/>
                                                      <m:t>3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mr>
                                            <m:m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cs-CZ" i="1"/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cs-CZ" i="1"/>
                                                      <m:t>𝑣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cs-CZ" i="1"/>
                                                      <m:t>2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cs-CZ" i="1"/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cs-CZ" i="1"/>
                                                      <m:t>𝑣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cs-CZ" i="1"/>
                                                      <m:t>3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mr>
                                          </m:m>
                                        </m:e>
                                      </m:d>
                                      <m:r>
                                        <a:rPr lang="cs-CZ"/>
                                        <m:t>,</m:t>
                                      </m:r>
                                    </m:e>
                                    <m:e>
                                      <m:r>
                                        <a:rPr lang="cs-CZ"/>
                                        <m:t>−</m:t>
                                      </m:r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cs-CZ" i="1"/>
                                          </m:ctrlPr>
                                        </m:dPr>
                                        <m:e>
                                          <m:m>
                                            <m:mPr>
                                              <m:plcHide m:val="on"/>
                                              <m:mcs>
                                                <m:mc>
                                                  <m:mcPr>
                                                    <m:count m:val="2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cs-CZ" i="1"/>
                                              </m:ctrlPr>
                                            </m:mPr>
                                            <m:m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cs-CZ" i="1"/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cs-CZ" i="1"/>
                                                      <m:t>𝑢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cs-CZ" i="1"/>
                                                      <m:t>1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cs-CZ" i="1"/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cs-CZ" i="1"/>
                                                      <m:t>𝑢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cs-CZ" i="1"/>
                                                      <m:t>3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mr>
                                            <m:m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cs-CZ" i="1"/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cs-CZ" i="1"/>
                                                      <m:t>𝑣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cs-CZ" i="1"/>
                                                      <m:t>1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cs-CZ" i="1"/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cs-CZ" i="1"/>
                                                      <m:t>𝑣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cs-CZ" i="1"/>
                                                      <m:t>3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mr>
                                          </m:m>
                                        </m:e>
                                      </m:d>
                                      <m:r>
                                        <a:rPr lang="cs-CZ"/>
                                        <m:t>,</m:t>
                                      </m:r>
                                    </m:e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cs-CZ" i="1"/>
                                          </m:ctrlPr>
                                        </m:dPr>
                                        <m:e>
                                          <m:m>
                                            <m:mPr>
                                              <m:plcHide m:val="on"/>
                                              <m:mcs>
                                                <m:mc>
                                                  <m:mcPr>
                                                    <m:count m:val="2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cs-CZ" i="1"/>
                                              </m:ctrlPr>
                                            </m:mPr>
                                            <m:m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cs-CZ" i="1"/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cs-CZ" i="1"/>
                                                      <m:t>𝑢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cs-CZ" i="1"/>
                                                      <m:t>1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cs-CZ" i="1"/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cs-CZ" i="1"/>
                                                      <m:t>𝑢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cs-CZ" i="1"/>
                                                      <m:t>2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mr>
                                            <m:m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cs-CZ" i="1"/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cs-CZ" i="1"/>
                                                      <m:t>𝑣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cs-CZ" i="1"/>
                                                      <m:t>1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cs-CZ" i="1"/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cs-CZ" i="1"/>
                                                      <m:t>𝑣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cs-CZ" i="1"/>
                                                      <m:t>2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mr>
                                          </m:m>
                                        </m:e>
                                      </m:d>
                                    </m:e>
                                  </m:mr>
                                </m:m>
                              </m:e>
                            </m:d>
                            <m:r>
                              <a:rPr lang="cs-CZ"/>
                              <m:t>.</m:t>
                            </m:r>
                          </m:e>
                        </m:mr>
                      </m:m>
                    </m:oMath>
                  </m:oMathPara>
                </a14:m>
                <a:endParaRPr lang="cs-CZ" dirty="0"/>
              </a:p>
              <a:p>
                <a:pPr marL="0" indent="0">
                  <a:buNone/>
                </a:pPr>
                <a:endParaRPr lang="cs-CZ" dirty="0"/>
              </a:p>
            </p:txBody>
          </p:sp>
        </mc:Choice>
        <mc:Fallback>
          <p:sp>
            <p:nvSpPr>
              <p:cNvPr id="3" name="Zástupný obsah 2">
                <a:extLst>
                  <a:ext uri="{FF2B5EF4-FFF2-40B4-BE49-F238E27FC236}">
                    <a16:creationId xmlns:a16="http://schemas.microsoft.com/office/drawing/2014/main" id="{0EAD17E8-1F99-121E-CCC4-64278B1720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7666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CAB6F04-6B80-CEF8-A8A5-CE7696829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Příklad 3: Norma a úhel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Zástupný obsah 2">
                <a:extLst>
                  <a:ext uri="{FF2B5EF4-FFF2-40B4-BE49-F238E27FC236}">
                    <a16:creationId xmlns:a16="http://schemas.microsoft.com/office/drawing/2014/main" id="{AC5EF8F2-2B3A-7045-77C1-489DFB794F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 err="1"/>
                  <a:t>Spočtěte</a:t>
                </a:r>
                <a:r>
                  <a:rPr lang="en-US" dirty="0"/>
                  <a:t> </a:t>
                </a:r>
                <a:r>
                  <a:rPr lang="en-US" dirty="0" err="1"/>
                  <a:t>normu</a:t>
                </a:r>
                <a:r>
                  <a:rPr lang="en-US" dirty="0"/>
                  <a:t> </a:t>
                </a:r>
                <a:r>
                  <a:rPr lang="en-US" dirty="0" err="1"/>
                  <a:t>vektorů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cs-CZ" i="1"/>
                      <m:t>𝑢</m:t>
                    </m:r>
                    <m:r>
                      <a:rPr lang="cs-CZ"/>
                      <m:t>,</m:t>
                    </m:r>
                    <m:r>
                      <a:rPr lang="cs-CZ" i="1"/>
                      <m:t>𝑣</m:t>
                    </m:r>
                  </m:oMath>
                </a14:m>
                <a:endParaRPr lang="cs-CZ" dirty="0"/>
              </a:p>
              <a:p>
                <a:pPr marL="0" indent="0">
                  <a:buNone/>
                </a:pPr>
                <a:endParaRPr lang="cs-CZ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cs-CZ" i="1"/>
                          </m:ctrlPr>
                        </m:mPr>
                        <m:m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cs-CZ" i="1"/>
                                </m:ctrlPr>
                              </m:dPr>
                              <m:e>
                                <m:r>
                                  <a:rPr lang="cs-CZ" i="1"/>
                                  <m:t>𝑢</m:t>
                                </m:r>
                              </m:e>
                            </m:d>
                          </m:e>
                          <m:e>
                            <m:r>
                              <a:rPr lang="cs-CZ"/>
                              <m:t>=</m:t>
                            </m:r>
                            <m:rad>
                              <m:radPr>
                                <m:degHide m:val="on"/>
                                <m:ctrlPr>
                                  <a:rPr lang="cs-CZ" i="1"/>
                                </m:ctrlPr>
                              </m:radPr>
                              <m:deg/>
                              <m:e>
                                <m:sSubSup>
                                  <m:sSubSupPr>
                                    <m:ctrlPr>
                                      <a:rPr lang="cs-CZ" i="1"/>
                                    </m:ctrlPr>
                                  </m:sSubSupPr>
                                  <m:e>
                                    <m:r>
                                      <a:rPr lang="cs-CZ" i="1"/>
                                      <m:t>𝑢</m:t>
                                    </m:r>
                                  </m:e>
                                  <m:sub>
                                    <m:r>
                                      <a:rPr lang="cs-CZ" i="1"/>
                                      <m:t>1</m:t>
                                    </m:r>
                                  </m:sub>
                                  <m:sup>
                                    <m:r>
                                      <a:rPr lang="cs-CZ" i="1"/>
                                      <m:t>2</m:t>
                                    </m:r>
                                  </m:sup>
                                </m:sSubSup>
                                <m:r>
                                  <a:rPr lang="cs-CZ"/>
                                  <m:t>+</m:t>
                                </m:r>
                                <m:sSubSup>
                                  <m:sSubSupPr>
                                    <m:ctrlPr>
                                      <a:rPr lang="cs-CZ" i="1"/>
                                    </m:ctrlPr>
                                  </m:sSubSupPr>
                                  <m:e>
                                    <m:r>
                                      <a:rPr lang="cs-CZ" i="1"/>
                                      <m:t>𝑢</m:t>
                                    </m:r>
                                  </m:e>
                                  <m:sub>
                                    <m:r>
                                      <a:rPr lang="cs-CZ" i="1"/>
                                      <m:t>2</m:t>
                                    </m:r>
                                  </m:sub>
                                  <m:sup>
                                    <m:r>
                                      <a:rPr lang="cs-CZ" i="1"/>
                                      <m:t>2</m:t>
                                    </m:r>
                                  </m:sup>
                                </m:sSubSup>
                                <m:r>
                                  <a:rPr lang="cs-CZ"/>
                                  <m:t>+</m:t>
                                </m:r>
                                <m:sSubSup>
                                  <m:sSubSupPr>
                                    <m:ctrlPr>
                                      <a:rPr lang="cs-CZ" i="1"/>
                                    </m:ctrlPr>
                                  </m:sSubSupPr>
                                  <m:e>
                                    <m:r>
                                      <a:rPr lang="cs-CZ" i="1"/>
                                      <m:t>𝑢</m:t>
                                    </m:r>
                                  </m:e>
                                  <m:sub>
                                    <m:r>
                                      <a:rPr lang="cs-CZ" i="1"/>
                                      <m:t>3</m:t>
                                    </m:r>
                                  </m:sub>
                                  <m:sup>
                                    <m:r>
                                      <a:rPr lang="cs-CZ" i="1"/>
                                      <m:t>2</m:t>
                                    </m:r>
                                  </m:sup>
                                </m:sSubSup>
                              </m:e>
                            </m:rad>
                            <m:r>
                              <a:rPr lang="cs-CZ"/>
                              <m:t>,</m:t>
                            </m:r>
                            <m:r>
                              <a:rPr lang="cs-CZ" i="1"/>
                              <m:t>  </m:t>
                            </m:r>
                            <m:d>
                              <m:dPr>
                                <m:begChr m:val="‖"/>
                                <m:endChr m:val="‖"/>
                                <m:ctrlPr>
                                  <a:rPr lang="cs-CZ" i="1"/>
                                </m:ctrlPr>
                              </m:dPr>
                              <m:e>
                                <m:r>
                                  <a:rPr lang="cs-CZ" i="1"/>
                                  <m:t>𝑣</m:t>
                                </m:r>
                              </m:e>
                            </m:d>
                            <m:r>
                              <a:rPr lang="cs-CZ"/>
                              <m:t>=</m:t>
                            </m:r>
                            <m:rad>
                              <m:radPr>
                                <m:degHide m:val="on"/>
                                <m:ctrlPr>
                                  <a:rPr lang="cs-CZ" i="1"/>
                                </m:ctrlPr>
                              </m:radPr>
                              <m:deg/>
                              <m:e>
                                <m:sSubSup>
                                  <m:sSubSupPr>
                                    <m:ctrlPr>
                                      <a:rPr lang="cs-CZ" i="1"/>
                                    </m:ctrlPr>
                                  </m:sSubSupPr>
                                  <m:e>
                                    <m:r>
                                      <a:rPr lang="cs-CZ" i="1"/>
                                      <m:t>𝑣</m:t>
                                    </m:r>
                                  </m:e>
                                  <m:sub>
                                    <m:r>
                                      <a:rPr lang="cs-CZ" i="1"/>
                                      <m:t>1</m:t>
                                    </m:r>
                                  </m:sub>
                                  <m:sup>
                                    <m:r>
                                      <a:rPr lang="cs-CZ" i="1"/>
                                      <m:t>2</m:t>
                                    </m:r>
                                  </m:sup>
                                </m:sSubSup>
                                <m:r>
                                  <a:rPr lang="cs-CZ"/>
                                  <m:t>+</m:t>
                                </m:r>
                                <m:sSubSup>
                                  <m:sSubSupPr>
                                    <m:ctrlPr>
                                      <a:rPr lang="cs-CZ" i="1"/>
                                    </m:ctrlPr>
                                  </m:sSubSupPr>
                                  <m:e>
                                    <m:r>
                                      <a:rPr lang="cs-CZ" i="1"/>
                                      <m:t>𝑣</m:t>
                                    </m:r>
                                  </m:e>
                                  <m:sub>
                                    <m:r>
                                      <a:rPr lang="cs-CZ" i="1"/>
                                      <m:t>2</m:t>
                                    </m:r>
                                  </m:sub>
                                  <m:sup>
                                    <m:r>
                                      <a:rPr lang="cs-CZ" i="1"/>
                                      <m:t>2</m:t>
                                    </m:r>
                                  </m:sup>
                                </m:sSubSup>
                                <m:r>
                                  <a:rPr lang="cs-CZ"/>
                                  <m:t>+</m:t>
                                </m:r>
                                <m:sSubSup>
                                  <m:sSubSupPr>
                                    <m:ctrlPr>
                                      <a:rPr lang="cs-CZ" i="1"/>
                                    </m:ctrlPr>
                                  </m:sSubSupPr>
                                  <m:e>
                                    <m:r>
                                      <a:rPr lang="cs-CZ" i="1"/>
                                      <m:t>𝑣</m:t>
                                    </m:r>
                                  </m:e>
                                  <m:sub>
                                    <m:r>
                                      <a:rPr lang="cs-CZ" i="1"/>
                                      <m:t>3</m:t>
                                    </m:r>
                                  </m:sub>
                                  <m:sup>
                                    <m:r>
                                      <a:rPr lang="cs-CZ" i="1"/>
                                      <m:t>2</m:t>
                                    </m:r>
                                  </m:sup>
                                </m:sSubSup>
                              </m:e>
                            </m:rad>
                          </m:e>
                        </m:mr>
                      </m:m>
                    </m:oMath>
                  </m:oMathPara>
                </a14:m>
                <a:endParaRPr lang="cs-CZ" dirty="0"/>
              </a:p>
              <a:p>
                <a:pPr marL="0" indent="0">
                  <a:buNone/>
                </a:pPr>
                <a:endParaRPr lang="cs-CZ" dirty="0"/>
              </a:p>
              <a:p>
                <a:pPr marL="0" indent="0">
                  <a:buNone/>
                </a:pPr>
                <a:r>
                  <a:rPr lang="en-US" dirty="0"/>
                  <a:t>a </a:t>
                </a:r>
                <a:r>
                  <a:rPr lang="en-US" dirty="0" err="1"/>
                  <a:t>úhel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cs-CZ" i="1"/>
                      <m:t>𝛼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mezi</a:t>
                </a:r>
                <a:r>
                  <a:rPr lang="en-US" dirty="0"/>
                  <a:t> </a:t>
                </a:r>
                <a:r>
                  <a:rPr lang="en-US" dirty="0" err="1"/>
                  <a:t>vektory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cs-CZ" i="1"/>
                      <m:t>𝑢</m:t>
                    </m:r>
                    <m:r>
                      <a:rPr lang="cs-CZ"/>
                      <m:t>,</m:t>
                    </m:r>
                    <m:r>
                      <a:rPr lang="cs-CZ" i="1"/>
                      <m:t>𝑣</m:t>
                    </m:r>
                  </m:oMath>
                </a14:m>
                <a:r>
                  <a:rPr lang="en-US" dirty="0"/>
                  <a:t>.</a:t>
                </a:r>
                <a:endParaRPr lang="cs-CZ" dirty="0"/>
              </a:p>
              <a:p>
                <a:pPr marL="0" indent="0">
                  <a:buNone/>
                </a:pPr>
                <a:endParaRPr lang="cs-CZ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cs-CZ" i="1"/>
                          </m:ctrlPr>
                        </m:mPr>
                        <m:mr>
                          <m:e>
                            <m:r>
                              <a:rPr lang="cs-CZ" i="1"/>
                              <m:t>𝛼</m:t>
                            </m:r>
                          </m:e>
                          <m:e>
                            <m:r>
                              <a:rPr lang="cs-CZ"/>
                              <m:t>=</m:t>
                            </m:r>
                            <m:r>
                              <m:rPr>
                                <m:sty m:val="p"/>
                              </m:rPr>
                              <a:rPr lang="cs-CZ"/>
                              <m:t>arccos</m:t>
                            </m:r>
                            <m:f>
                              <m:fPr>
                                <m:ctrlPr>
                                  <a:rPr lang="cs-CZ" i="1"/>
                                </m:ctrlPr>
                              </m:fPr>
                              <m:num>
                                <m:r>
                                  <a:rPr lang="cs-CZ" i="1"/>
                                  <m:t>𝑢</m:t>
                                </m:r>
                                <m:r>
                                  <a:rPr lang="cs-CZ"/>
                                  <m:t>⋅</m:t>
                                </m:r>
                                <m:r>
                                  <a:rPr lang="cs-CZ" i="1"/>
                                  <m:t>𝑣</m:t>
                                </m:r>
                              </m:num>
                              <m:den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cs-CZ" i="1"/>
                                    </m:ctrlPr>
                                  </m:dPr>
                                  <m:e>
                                    <m:r>
                                      <a:rPr lang="cs-CZ" i="1"/>
                                      <m:t>𝑢</m:t>
                                    </m:r>
                                  </m:e>
                                </m:d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cs-CZ" i="1"/>
                                    </m:ctrlPr>
                                  </m:dPr>
                                  <m:e>
                                    <m:r>
                                      <a:rPr lang="cs-CZ" i="1"/>
                                      <m:t>𝑣</m:t>
                                    </m:r>
                                  </m:e>
                                </m:d>
                              </m:den>
                            </m:f>
                            <m:r>
                              <a:rPr lang="cs-CZ"/>
                              <m:t>.</m:t>
                            </m:r>
                          </m:e>
                        </m:mr>
                      </m:m>
                    </m:oMath>
                  </m:oMathPara>
                </a14:m>
                <a:endParaRPr lang="cs-CZ" dirty="0"/>
              </a:p>
              <a:p>
                <a:pPr marL="0" indent="0">
                  <a:buNone/>
                </a:pPr>
                <a:endParaRPr lang="cs-CZ" dirty="0"/>
              </a:p>
            </p:txBody>
          </p:sp>
        </mc:Choice>
        <mc:Fallback>
          <p:sp>
            <p:nvSpPr>
              <p:cNvPr id="3" name="Zástupný obsah 2">
                <a:extLst>
                  <a:ext uri="{FF2B5EF4-FFF2-40B4-BE49-F238E27FC236}">
                    <a16:creationId xmlns:a16="http://schemas.microsoft.com/office/drawing/2014/main" id="{AC5EF8F2-2B3A-7045-77C1-489DFB794F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904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B02D416-FDC0-D758-491F-BBD06AA06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Příklad 4: </a:t>
            </a:r>
            <a:r>
              <a:rPr lang="en-US" dirty="0" err="1"/>
              <a:t>Hodnota</a:t>
            </a:r>
            <a:r>
              <a:rPr lang="en-US" dirty="0"/>
              <a:t> </a:t>
            </a:r>
            <a:r>
              <a:rPr lang="en-US" dirty="0" err="1"/>
              <a:t>buňky</a:t>
            </a:r>
            <a:r>
              <a:rPr lang="en-US" dirty="0"/>
              <a:t> v </a:t>
            </a:r>
            <a:r>
              <a:rPr lang="en-US" dirty="0" err="1"/>
              <a:t>rastru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668E275-FDFA-7AE3-4918-0D0EDEADD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Spočtěte</a:t>
            </a:r>
            <a:r>
              <a:rPr lang="en-US" dirty="0"/>
              <a:t> </a:t>
            </a:r>
            <a:r>
              <a:rPr lang="en-US" dirty="0" err="1"/>
              <a:t>průměrnou</a:t>
            </a:r>
            <a:r>
              <a:rPr lang="en-US" dirty="0"/>
              <a:t> </a:t>
            </a:r>
            <a:r>
              <a:rPr lang="en-US" dirty="0" err="1"/>
              <a:t>hodnotu</a:t>
            </a:r>
            <a:r>
              <a:rPr lang="en-US" dirty="0"/>
              <a:t> </a:t>
            </a:r>
            <a:r>
              <a:rPr lang="en-US" dirty="0" err="1"/>
              <a:t>středové</a:t>
            </a:r>
            <a:r>
              <a:rPr lang="en-US" dirty="0"/>
              <a:t> </a:t>
            </a:r>
            <a:r>
              <a:rPr lang="en-US" dirty="0" err="1"/>
              <a:t>buňky</a:t>
            </a:r>
            <a:r>
              <a:rPr lang="en-US" dirty="0"/>
              <a:t> (</a:t>
            </a:r>
            <a:r>
              <a:rPr lang="en-US" dirty="0" err="1"/>
              <a:t>výšky</a:t>
            </a:r>
            <a:r>
              <a:rPr lang="en-US" dirty="0"/>
              <a:t>/</a:t>
            </a:r>
            <a:r>
              <a:rPr lang="en-US" dirty="0" err="1"/>
              <a:t>barvy</a:t>
            </a:r>
            <a:r>
              <a:rPr lang="en-US" dirty="0"/>
              <a:t>) v </a:t>
            </a:r>
            <a:r>
              <a:rPr lang="en-US" dirty="0" err="1"/>
              <a:t>rastru</a:t>
            </a:r>
            <a:r>
              <a:rPr lang="en-US" dirty="0"/>
              <a:t>.</a:t>
            </a:r>
            <a:endParaRPr lang="cs-CZ" dirty="0"/>
          </a:p>
          <a:p>
            <a:pPr marL="0" indent="0">
              <a:buNone/>
            </a:pPr>
            <a:r>
              <a:rPr lang="en-US" dirty="0" err="1"/>
              <a:t>Kolik</a:t>
            </a:r>
            <a:r>
              <a:rPr lang="en-US" dirty="0"/>
              <a:t> </a:t>
            </a:r>
            <a:r>
              <a:rPr lang="en-US" dirty="0" err="1"/>
              <a:t>buněk</a:t>
            </a:r>
            <a:r>
              <a:rPr lang="en-US" dirty="0"/>
              <a:t> </a:t>
            </a:r>
            <a:r>
              <a:rPr lang="en-US" dirty="0" err="1"/>
              <a:t>rastr</a:t>
            </a:r>
            <a:r>
              <a:rPr lang="en-US" dirty="0"/>
              <a:t> </a:t>
            </a:r>
            <a:r>
              <a:rPr lang="en-US" dirty="0" err="1"/>
              <a:t>obsahuje</a:t>
            </a:r>
            <a:r>
              <a:rPr lang="en-US" dirty="0"/>
              <a:t>? </a:t>
            </a:r>
            <a:endParaRPr lang="cs-CZ" dirty="0"/>
          </a:p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r>
              <a:rPr lang="en-US" dirty="0" err="1"/>
              <a:t>Zkuste</a:t>
            </a:r>
            <a:r>
              <a:rPr lang="en-US" dirty="0"/>
              <a:t> </a:t>
            </a:r>
            <a:r>
              <a:rPr lang="en-US" dirty="0" err="1"/>
              <a:t>aplikovat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rastr</a:t>
            </a:r>
            <a:r>
              <a:rPr lang="en-US" dirty="0"/>
              <a:t> 4 x 4 </a:t>
            </a:r>
            <a:r>
              <a:rPr lang="en-US" dirty="0" err="1"/>
              <a:t>či</a:t>
            </a:r>
            <a:r>
              <a:rPr lang="en-US" dirty="0"/>
              <a:t> </a:t>
            </a:r>
            <a:r>
              <a:rPr lang="en-US" dirty="0" err="1"/>
              <a:t>rastr</a:t>
            </a:r>
            <a:r>
              <a:rPr lang="en-US" dirty="0"/>
              <a:t> </a:t>
            </a:r>
            <a:r>
              <a:rPr lang="en-US" dirty="0" err="1"/>
              <a:t>zobecněný</a:t>
            </a:r>
            <a:r>
              <a:rPr lang="en-US" dirty="0"/>
              <a:t> s </a:t>
            </a:r>
            <a:r>
              <a:rPr lang="en-US" dirty="0" err="1"/>
              <a:t>použitím</a:t>
            </a:r>
            <a:r>
              <a:rPr lang="en-US" dirty="0"/>
              <a:t> sum</a:t>
            </a:r>
            <a:r>
              <a:rPr lang="cs-CZ" dirty="0"/>
              <a:t>()</a:t>
            </a:r>
            <a:r>
              <a:rPr lang="en-US" dirty="0"/>
              <a:t> a </a:t>
            </a:r>
            <a:r>
              <a:rPr lang="en-US" dirty="0" err="1"/>
              <a:t>len</a:t>
            </a:r>
            <a:r>
              <a:rPr lang="cs-CZ" dirty="0"/>
              <a:t>()</a:t>
            </a:r>
            <a:r>
              <a:rPr lang="en-US" dirty="0"/>
              <a:t>.</a:t>
            </a:r>
            <a:endParaRPr lang="cs-CZ" dirty="0"/>
          </a:p>
          <a:p>
            <a:pPr marL="0" indent="0">
              <a:buNone/>
            </a:pPr>
            <a:endParaRPr lang="cs-CZ" dirty="0"/>
          </a:p>
        </p:txBody>
      </p:sp>
      <p:graphicFrame>
        <p:nvGraphicFramePr>
          <p:cNvPr id="12" name="Tabulka 11">
            <a:extLst>
              <a:ext uri="{FF2B5EF4-FFF2-40B4-BE49-F238E27FC236}">
                <a16:creationId xmlns:a16="http://schemas.microsoft.com/office/drawing/2014/main" id="{B8544C23-DE5C-4E7B-7F56-0C6AE67D21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9764082"/>
              </p:ext>
            </p:extLst>
          </p:nvPr>
        </p:nvGraphicFramePr>
        <p:xfrm>
          <a:off x="4944610" y="2935179"/>
          <a:ext cx="2302779" cy="139031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7593">
                  <a:extLst>
                    <a:ext uri="{9D8B030D-6E8A-4147-A177-3AD203B41FA5}">
                      <a16:colId xmlns:a16="http://schemas.microsoft.com/office/drawing/2014/main" val="3092804662"/>
                    </a:ext>
                  </a:extLst>
                </a:gridCol>
                <a:gridCol w="767593">
                  <a:extLst>
                    <a:ext uri="{9D8B030D-6E8A-4147-A177-3AD203B41FA5}">
                      <a16:colId xmlns:a16="http://schemas.microsoft.com/office/drawing/2014/main" val="881101325"/>
                    </a:ext>
                  </a:extLst>
                </a:gridCol>
                <a:gridCol w="767593">
                  <a:extLst>
                    <a:ext uri="{9D8B030D-6E8A-4147-A177-3AD203B41FA5}">
                      <a16:colId xmlns:a16="http://schemas.microsoft.com/office/drawing/2014/main" val="2127840160"/>
                    </a:ext>
                  </a:extLst>
                </a:gridCol>
              </a:tblGrid>
              <a:tr h="463437"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baseline="0">
                          <a:effectLst/>
                        </a:rPr>
                        <a:t>120</a:t>
                      </a:r>
                      <a:endParaRPr lang="cs-CZ" sz="1200" baseline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baseline="0" dirty="0">
                          <a:effectLst/>
                        </a:rPr>
                        <a:t>105</a:t>
                      </a:r>
                      <a:endParaRPr lang="cs-CZ" sz="1200" baseline="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baseline="0">
                          <a:effectLst/>
                        </a:rPr>
                        <a:t>89</a:t>
                      </a:r>
                      <a:endParaRPr lang="cs-CZ" sz="1200" baseline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31435845"/>
                  </a:ext>
                </a:extLst>
              </a:tr>
              <a:tr h="463437"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baseline="0">
                          <a:effectLst/>
                        </a:rPr>
                        <a:t>105</a:t>
                      </a:r>
                      <a:endParaRPr lang="cs-CZ" sz="1200" baseline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baseline="0">
                          <a:effectLst/>
                        </a:rPr>
                        <a:t>?</a:t>
                      </a:r>
                      <a:endParaRPr lang="cs-CZ" sz="1200" baseline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baseline="0">
                          <a:effectLst/>
                        </a:rPr>
                        <a:t>95</a:t>
                      </a:r>
                      <a:endParaRPr lang="cs-CZ" sz="1200" baseline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9238082"/>
                  </a:ext>
                </a:extLst>
              </a:tr>
              <a:tr h="463437"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baseline="0">
                          <a:effectLst/>
                        </a:rPr>
                        <a:t>98</a:t>
                      </a:r>
                      <a:endParaRPr lang="cs-CZ" sz="1200" baseline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baseline="0" dirty="0">
                          <a:effectLst/>
                        </a:rPr>
                        <a:t>90</a:t>
                      </a:r>
                      <a:endParaRPr lang="cs-CZ" sz="1200" baseline="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baseline="0" dirty="0">
                          <a:effectLst/>
                        </a:rPr>
                        <a:t>87</a:t>
                      </a:r>
                      <a:endParaRPr lang="cs-CZ" sz="1200" baseline="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54987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8761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FD7E55C-2297-F96E-BE00-DF668C15B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Příklad 5: </a:t>
            </a:r>
            <a:r>
              <a:rPr lang="en-US" dirty="0" err="1"/>
              <a:t>Sousední</a:t>
            </a:r>
            <a:r>
              <a:rPr lang="en-US" dirty="0"/>
              <a:t> </a:t>
            </a:r>
            <a:r>
              <a:rPr lang="en-US" dirty="0" err="1"/>
              <a:t>buňky</a:t>
            </a:r>
            <a:r>
              <a:rPr lang="en-US" dirty="0"/>
              <a:t> v </a:t>
            </a:r>
            <a:r>
              <a:rPr lang="en-US" dirty="0" err="1"/>
              <a:t>rastru</a:t>
            </a:r>
            <a:br>
              <a:rPr lang="cs-CZ" b="1" dirty="0"/>
            </a:br>
            <a:endParaRPr lang="cs-CZ" dirty="0"/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8A6837E5-E950-79B9-F0D9-5E75AFA5815C}"/>
              </a:ext>
            </a:extLst>
          </p:cNvPr>
          <p:cNvSpPr txBox="1"/>
          <p:nvPr/>
        </p:nvSpPr>
        <p:spPr>
          <a:xfrm>
            <a:off x="920750" y="1390650"/>
            <a:ext cx="10865782" cy="1454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Times New Roman" panose="02020603050405020304" pitchFamily="18" charset="0"/>
              </a:rPr>
              <a:t>Najděte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Times New Roman" panose="02020603050405020304" pitchFamily="18" charset="0"/>
              </a:rPr>
              <a:t>všechny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Times New Roman" panose="02020603050405020304" pitchFamily="18" charset="0"/>
              </a:rPr>
              <a:t>sousední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Times New Roman" panose="02020603050405020304" pitchFamily="18" charset="0"/>
              </a:rPr>
              <a:t>pixely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Times New Roman" panose="02020603050405020304" pitchFamily="18" charset="0"/>
              </a:rPr>
              <a:t> ‘x’,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Times New Roman" panose="02020603050405020304" pitchFamily="18" charset="0"/>
              </a:rPr>
              <a:t>které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Times New Roman" panose="02020603050405020304" pitchFamily="18" charset="0"/>
              </a:rPr>
              <a:t> s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Times New Roman" panose="02020603050405020304" pitchFamily="18" charset="0"/>
              </a:rPr>
              <a:t>pixelem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Times New Roman" panose="02020603050405020304" pitchFamily="18" charset="0"/>
              </a:rPr>
              <a:t> ‘o’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Times New Roman" panose="02020603050405020304" pitchFamily="18" charset="0"/>
              </a:rPr>
              <a:t>sdílejí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Times New Roman" panose="02020603050405020304" pitchFamily="18" charset="0"/>
              </a:rPr>
              <a:t>hranu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Times New Roman" panose="02020603050405020304" pitchFamily="18" charset="0"/>
              </a:rPr>
              <a:t>nebo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Times New Roman" panose="02020603050405020304" pitchFamily="18" charset="0"/>
              </a:rPr>
              <a:t>vrchol</a:t>
            </a:r>
            <a:r>
              <a:rPr lang="cs-CZ" sz="2400" dirty="0">
                <a:effectLst/>
                <a:latin typeface="+mn-lt"/>
                <a:ea typeface="Cambria" panose="020405030504060302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Times New Roman" panose="02020603050405020304" pitchFamily="18" charset="0"/>
              </a:rPr>
              <a:t>4</a:t>
            </a:r>
            <a:r>
              <a:rPr lang="cs-CZ" sz="2400" dirty="0">
                <a:effectLst/>
                <a:latin typeface="+mn-lt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Times New Roman" panose="02020603050405020304" pitchFamily="18" charset="0"/>
              </a:rPr>
              <a:t>nebo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Times New Roman" panose="02020603050405020304" pitchFamily="18" charset="0"/>
              </a:rPr>
              <a:t> 8</a:t>
            </a:r>
            <a:r>
              <a:rPr lang="cs-CZ" sz="2400" dirty="0">
                <a:effectLst/>
                <a:latin typeface="+mn-lt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Times New Roman" panose="02020603050405020304" pitchFamily="18" charset="0"/>
              </a:rPr>
              <a:t>spojitost</a:t>
            </a:r>
            <a:r>
              <a:rPr lang="cs-CZ" sz="2400" dirty="0">
                <a:ea typeface="Cambria" panose="02040503050406030204" pitchFamily="18" charset="0"/>
                <a:cs typeface="Times New Roman" panose="02020603050405020304" pitchFamily="18" charset="0"/>
              </a:rPr>
              <a:t>.</a:t>
            </a:r>
            <a:endParaRPr lang="cs-CZ" sz="2400" dirty="0">
              <a:effectLst/>
              <a:latin typeface="+mn-lt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  <a:buNone/>
            </a:pPr>
            <a:r>
              <a:rPr lang="en-US" sz="1800" dirty="0">
                <a:effectLst/>
                <a:latin typeface="+mn-lt"/>
                <a:ea typeface="Cambria" panose="02040503050406030204" pitchFamily="18" charset="0"/>
                <a:cs typeface="Times New Roman" panose="02020603050405020304" pitchFamily="18" charset="0"/>
              </a:rPr>
              <a:t> </a:t>
            </a:r>
            <a:endParaRPr lang="cs-CZ" sz="1800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6" name="Tabulka 15">
            <a:extLst>
              <a:ext uri="{FF2B5EF4-FFF2-40B4-BE49-F238E27FC236}">
                <a16:creationId xmlns:a16="http://schemas.microsoft.com/office/drawing/2014/main" id="{7EB1FBDE-5AAF-4AE2-FBDB-D97F2B121C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6756150"/>
              </p:ext>
            </p:extLst>
          </p:nvPr>
        </p:nvGraphicFramePr>
        <p:xfrm>
          <a:off x="1663700" y="3047724"/>
          <a:ext cx="3067050" cy="2591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3410">
                  <a:extLst>
                    <a:ext uri="{9D8B030D-6E8A-4147-A177-3AD203B41FA5}">
                      <a16:colId xmlns:a16="http://schemas.microsoft.com/office/drawing/2014/main" val="3200977290"/>
                    </a:ext>
                  </a:extLst>
                </a:gridCol>
                <a:gridCol w="613410">
                  <a:extLst>
                    <a:ext uri="{9D8B030D-6E8A-4147-A177-3AD203B41FA5}">
                      <a16:colId xmlns:a16="http://schemas.microsoft.com/office/drawing/2014/main" val="2851418714"/>
                    </a:ext>
                  </a:extLst>
                </a:gridCol>
                <a:gridCol w="613410">
                  <a:extLst>
                    <a:ext uri="{9D8B030D-6E8A-4147-A177-3AD203B41FA5}">
                      <a16:colId xmlns:a16="http://schemas.microsoft.com/office/drawing/2014/main" val="103743967"/>
                    </a:ext>
                  </a:extLst>
                </a:gridCol>
                <a:gridCol w="613410">
                  <a:extLst>
                    <a:ext uri="{9D8B030D-6E8A-4147-A177-3AD203B41FA5}">
                      <a16:colId xmlns:a16="http://schemas.microsoft.com/office/drawing/2014/main" val="2139018189"/>
                    </a:ext>
                  </a:extLst>
                </a:gridCol>
                <a:gridCol w="613410">
                  <a:extLst>
                    <a:ext uri="{9D8B030D-6E8A-4147-A177-3AD203B41FA5}">
                      <a16:colId xmlns:a16="http://schemas.microsoft.com/office/drawing/2014/main" val="131488384"/>
                    </a:ext>
                  </a:extLst>
                </a:gridCol>
              </a:tblGrid>
              <a:tr h="518372"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9557342"/>
                  </a:ext>
                </a:extLst>
              </a:tr>
              <a:tr h="518372"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6122883"/>
                  </a:ext>
                </a:extLst>
              </a:tr>
              <a:tr h="518372"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2978057"/>
                  </a:ext>
                </a:extLst>
              </a:tr>
              <a:tr h="518372"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7386681"/>
                  </a:ext>
                </a:extLst>
              </a:tr>
              <a:tr h="518372"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2118854"/>
                  </a:ext>
                </a:extLst>
              </a:tr>
            </a:tbl>
          </a:graphicData>
        </a:graphic>
      </p:graphicFrame>
      <p:graphicFrame>
        <p:nvGraphicFramePr>
          <p:cNvPr id="17" name="Tabulka 16">
            <a:extLst>
              <a:ext uri="{FF2B5EF4-FFF2-40B4-BE49-F238E27FC236}">
                <a16:creationId xmlns:a16="http://schemas.microsoft.com/office/drawing/2014/main" id="{AE0E0C06-7F45-8DBB-FC3A-0393CBA783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7921520"/>
              </p:ext>
            </p:extLst>
          </p:nvPr>
        </p:nvGraphicFramePr>
        <p:xfrm>
          <a:off x="6610350" y="3154891"/>
          <a:ext cx="3067050" cy="2591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3410">
                  <a:extLst>
                    <a:ext uri="{9D8B030D-6E8A-4147-A177-3AD203B41FA5}">
                      <a16:colId xmlns:a16="http://schemas.microsoft.com/office/drawing/2014/main" val="3200977290"/>
                    </a:ext>
                  </a:extLst>
                </a:gridCol>
                <a:gridCol w="613410">
                  <a:extLst>
                    <a:ext uri="{9D8B030D-6E8A-4147-A177-3AD203B41FA5}">
                      <a16:colId xmlns:a16="http://schemas.microsoft.com/office/drawing/2014/main" val="2851418714"/>
                    </a:ext>
                  </a:extLst>
                </a:gridCol>
                <a:gridCol w="613410">
                  <a:extLst>
                    <a:ext uri="{9D8B030D-6E8A-4147-A177-3AD203B41FA5}">
                      <a16:colId xmlns:a16="http://schemas.microsoft.com/office/drawing/2014/main" val="103743967"/>
                    </a:ext>
                  </a:extLst>
                </a:gridCol>
                <a:gridCol w="613410">
                  <a:extLst>
                    <a:ext uri="{9D8B030D-6E8A-4147-A177-3AD203B41FA5}">
                      <a16:colId xmlns:a16="http://schemas.microsoft.com/office/drawing/2014/main" val="2139018189"/>
                    </a:ext>
                  </a:extLst>
                </a:gridCol>
                <a:gridCol w="613410">
                  <a:extLst>
                    <a:ext uri="{9D8B030D-6E8A-4147-A177-3AD203B41FA5}">
                      <a16:colId xmlns:a16="http://schemas.microsoft.com/office/drawing/2014/main" val="131488384"/>
                    </a:ext>
                  </a:extLst>
                </a:gridCol>
              </a:tblGrid>
              <a:tr h="518372"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9557342"/>
                  </a:ext>
                </a:extLst>
              </a:tr>
              <a:tr h="518372"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6122883"/>
                  </a:ext>
                </a:extLst>
              </a:tr>
              <a:tr h="518372"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2978057"/>
                  </a:ext>
                </a:extLst>
              </a:tr>
              <a:tr h="518372"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7386681"/>
                  </a:ext>
                </a:extLst>
              </a:tr>
              <a:tr h="518372"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21188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1949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8809BA1-B2C5-F14D-8506-A9CEDEAE89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Navrhněte</a:t>
            </a:r>
            <a:r>
              <a:rPr lang="en-US" dirty="0"/>
              <a:t> </a:t>
            </a:r>
            <a:r>
              <a:rPr lang="en-US" dirty="0" err="1"/>
              <a:t>algoritmus</a:t>
            </a:r>
            <a:r>
              <a:rPr lang="en-US" dirty="0"/>
              <a:t>, </a:t>
            </a:r>
            <a:r>
              <a:rPr lang="en-US" dirty="0" err="1"/>
              <a:t>který</a:t>
            </a:r>
            <a:r>
              <a:rPr lang="en-US" dirty="0"/>
              <a:t> </a:t>
            </a:r>
            <a:r>
              <a:rPr lang="en-US" dirty="0" err="1"/>
              <a:t>rozhodne</a:t>
            </a:r>
            <a:r>
              <a:rPr lang="en-US" dirty="0"/>
              <a:t>, </a:t>
            </a:r>
            <a:r>
              <a:rPr lang="en-US" dirty="0" err="1"/>
              <a:t>zda</a:t>
            </a:r>
            <a:r>
              <a:rPr lang="en-US" dirty="0"/>
              <a:t> </a:t>
            </a:r>
            <a:r>
              <a:rPr lang="en-US" dirty="0" err="1"/>
              <a:t>heslo</a:t>
            </a:r>
            <a:r>
              <a:rPr lang="en-US" dirty="0"/>
              <a:t> </a:t>
            </a:r>
            <a:r>
              <a:rPr lang="en-US" dirty="0" err="1"/>
              <a:t>splňuje</a:t>
            </a:r>
            <a:r>
              <a:rPr lang="cs-CZ" dirty="0"/>
              <a:t> níže uvedené podmínky</a:t>
            </a:r>
            <a:r>
              <a:rPr lang="en-US" dirty="0"/>
              <a:t>:</a:t>
            </a:r>
            <a:endParaRPr lang="cs-CZ" dirty="0"/>
          </a:p>
          <a:p>
            <a:pPr marL="0" indent="0">
              <a:buNone/>
            </a:pPr>
            <a:endParaRPr lang="cs-CZ" dirty="0"/>
          </a:p>
          <a:p>
            <a:pPr lvl="1"/>
            <a:r>
              <a:rPr lang="en-US" sz="2800" dirty="0" err="1"/>
              <a:t>minimálně</a:t>
            </a:r>
            <a:r>
              <a:rPr lang="en-US" sz="2800" dirty="0"/>
              <a:t> 8 </a:t>
            </a:r>
            <a:r>
              <a:rPr lang="en-US" sz="2800" dirty="0" err="1"/>
              <a:t>znaků</a:t>
            </a:r>
            <a:r>
              <a:rPr lang="en-US" sz="2800" dirty="0"/>
              <a:t>,</a:t>
            </a:r>
            <a:endParaRPr lang="cs-CZ" sz="2800" dirty="0"/>
          </a:p>
          <a:p>
            <a:pPr lvl="1"/>
            <a:r>
              <a:rPr lang="en-US" sz="2800" dirty="0" err="1"/>
              <a:t>obsahuje</a:t>
            </a:r>
            <a:r>
              <a:rPr lang="en-US" sz="2800" dirty="0"/>
              <a:t> </a:t>
            </a:r>
            <a:r>
              <a:rPr lang="en-US" sz="2800" dirty="0" err="1"/>
              <a:t>číslici</a:t>
            </a:r>
            <a:r>
              <a:rPr lang="en-US" sz="2800" dirty="0"/>
              <a:t>,</a:t>
            </a:r>
            <a:endParaRPr lang="cs-CZ" sz="2800" dirty="0"/>
          </a:p>
          <a:p>
            <a:pPr lvl="1"/>
            <a:r>
              <a:rPr lang="en-US" sz="2800" dirty="0" err="1"/>
              <a:t>obsahuje</a:t>
            </a:r>
            <a:r>
              <a:rPr lang="en-US" sz="2800" dirty="0"/>
              <a:t> </a:t>
            </a:r>
            <a:r>
              <a:rPr lang="en-US" sz="2800" dirty="0" err="1"/>
              <a:t>velké</a:t>
            </a:r>
            <a:r>
              <a:rPr lang="en-US" sz="2800" dirty="0"/>
              <a:t> </a:t>
            </a:r>
            <a:r>
              <a:rPr lang="en-US" sz="2800" dirty="0" err="1"/>
              <a:t>písmeno</a:t>
            </a:r>
            <a:r>
              <a:rPr lang="en-US" sz="2800" dirty="0"/>
              <a:t>.</a:t>
            </a:r>
            <a:endParaRPr lang="cs-CZ" sz="2800" dirty="0"/>
          </a:p>
        </p:txBody>
      </p:sp>
      <p:sp>
        <p:nvSpPr>
          <p:cNvPr id="4" name="Nadpis 1">
            <a:extLst>
              <a:ext uri="{FF2B5EF4-FFF2-40B4-BE49-F238E27FC236}">
                <a16:creationId xmlns:a16="http://schemas.microsoft.com/office/drawing/2014/main" id="{59966E2F-485D-A137-FEDC-3D3696934868}"/>
              </a:ext>
            </a:extLst>
          </p:cNvPr>
          <p:cNvSpPr txBox="1">
            <a:spLocks/>
          </p:cNvSpPr>
          <p:nvPr/>
        </p:nvSpPr>
        <p:spPr>
          <a:xfrm>
            <a:off x="692150" y="24447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dirty="0"/>
              <a:t>Příklad 6: Kontrola platnosti hesla</a:t>
            </a:r>
          </a:p>
        </p:txBody>
      </p:sp>
    </p:spTree>
    <p:extLst>
      <p:ext uri="{BB962C8B-B14F-4D97-AF65-F5344CB8AC3E}">
        <p14:creationId xmlns:p14="http://schemas.microsoft.com/office/powerpoint/2010/main" val="3979067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9B3F624-C5C9-9717-9ADE-3F9DCE2B5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Příklad 7: </a:t>
            </a:r>
            <a:r>
              <a:rPr lang="en-US" dirty="0" err="1"/>
              <a:t>Vyhledávač</a:t>
            </a:r>
            <a:r>
              <a:rPr lang="en-US" dirty="0"/>
              <a:t> </a:t>
            </a:r>
            <a:r>
              <a:rPr lang="en-US" dirty="0" err="1"/>
              <a:t>studentů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2451016-0153-FD59-82ED-6FD259D7DE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V </a:t>
            </a:r>
            <a:r>
              <a:rPr lang="en-US" dirty="0" err="1"/>
              <a:t>níže</a:t>
            </a:r>
            <a:r>
              <a:rPr lang="en-US" dirty="0"/>
              <a:t> </a:t>
            </a:r>
            <a:r>
              <a:rPr lang="en-US" dirty="0" err="1"/>
              <a:t>uvedeném</a:t>
            </a:r>
            <a:r>
              <a:rPr lang="en-US" dirty="0"/>
              <a:t> </a:t>
            </a:r>
            <a:r>
              <a:rPr lang="en-US" dirty="0" err="1"/>
              <a:t>datovém</a:t>
            </a:r>
            <a:r>
              <a:rPr lang="en-US" dirty="0"/>
              <a:t> </a:t>
            </a:r>
            <a:r>
              <a:rPr lang="en-US" dirty="0" err="1"/>
              <a:t>modelu</a:t>
            </a:r>
            <a:r>
              <a:rPr lang="en-US" dirty="0"/>
              <a:t>:</a:t>
            </a:r>
            <a:endParaRPr lang="cs-CZ" dirty="0"/>
          </a:p>
          <a:p>
            <a:pPr marL="0" indent="0">
              <a:buNone/>
            </a:pPr>
            <a:endParaRPr lang="cs-CZ" dirty="0"/>
          </a:p>
          <a:p>
            <a:pPr lvl="1"/>
            <a:r>
              <a:rPr lang="en-US" sz="2600" dirty="0" err="1"/>
              <a:t>najděte</a:t>
            </a:r>
            <a:r>
              <a:rPr lang="en-US" sz="2600" dirty="0"/>
              <a:t> </a:t>
            </a:r>
            <a:r>
              <a:rPr lang="en-US" sz="2600" dirty="0" err="1"/>
              <a:t>nejlepšího</a:t>
            </a:r>
            <a:r>
              <a:rPr lang="en-US" sz="2600" dirty="0"/>
              <a:t> </a:t>
            </a:r>
            <a:r>
              <a:rPr lang="en-US" sz="2600" dirty="0" err="1"/>
              <a:t>studenta</a:t>
            </a:r>
            <a:r>
              <a:rPr lang="cs-CZ" sz="2600" dirty="0"/>
              <a:t> </a:t>
            </a:r>
            <a:r>
              <a:rPr lang="en-US" sz="2600" dirty="0" err="1"/>
              <a:t>zhledem</a:t>
            </a:r>
            <a:r>
              <a:rPr lang="en-US" sz="2600" dirty="0"/>
              <a:t> k </a:t>
            </a:r>
            <a:r>
              <a:rPr lang="en-US" sz="2600" dirty="0" err="1"/>
              <a:t>hodnocení</a:t>
            </a:r>
            <a:r>
              <a:rPr lang="en-US" sz="2600" dirty="0"/>
              <a:t>,</a:t>
            </a:r>
            <a:endParaRPr lang="cs-CZ" sz="2600" dirty="0"/>
          </a:p>
          <a:p>
            <a:pPr lvl="1"/>
            <a:r>
              <a:rPr lang="en-US" sz="2600" dirty="0" err="1"/>
              <a:t>vypište</a:t>
            </a:r>
            <a:r>
              <a:rPr lang="en-US" sz="2600" dirty="0"/>
              <a:t> </a:t>
            </a:r>
            <a:r>
              <a:rPr lang="en-US" sz="2600" dirty="0" err="1"/>
              <a:t>studenty</a:t>
            </a:r>
            <a:r>
              <a:rPr lang="en-US" sz="2600" dirty="0"/>
              <a:t> </a:t>
            </a:r>
            <a:r>
              <a:rPr lang="en-US" sz="2600" dirty="0" err="1"/>
              <a:t>nad</a:t>
            </a:r>
            <a:r>
              <a:rPr lang="en-US" sz="2600" dirty="0"/>
              <a:t> 80 </a:t>
            </a:r>
            <a:r>
              <a:rPr lang="en-US" sz="2600" dirty="0" err="1"/>
              <a:t>bodů</a:t>
            </a:r>
            <a:r>
              <a:rPr lang="en-US" sz="2600" dirty="0"/>
              <a:t>.</a:t>
            </a:r>
            <a:endParaRPr lang="cs-CZ" sz="2600" dirty="0"/>
          </a:p>
          <a:p>
            <a:pPr lvl="1"/>
            <a:endParaRPr lang="cs-CZ" sz="2800" dirty="0"/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endParaRPr lang="cs-CZ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jmeno:Anna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 body:82},</a:t>
            </a:r>
            <a:endParaRPr lang="cs-CZ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jmeno:Jan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 body:65},</a:t>
            </a:r>
            <a:endParaRPr lang="cs-CZ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jmeno:Eva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 body:91}</a:t>
            </a:r>
            <a:endParaRPr lang="cs-CZ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endParaRPr lang="cs-CZ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437700328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335</Words>
  <Application>Microsoft Office PowerPoint</Application>
  <PresentationFormat>Širokoúhlá obrazovka</PresentationFormat>
  <Paragraphs>123</Paragraphs>
  <Slides>8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Cambria</vt:lpstr>
      <vt:lpstr>Courier New</vt:lpstr>
      <vt:lpstr>Motiv Office</vt:lpstr>
      <vt:lpstr>ÚVIN, cvičení 3</vt:lpstr>
      <vt:lpstr>Příklad 1: Bankomat</vt:lpstr>
      <vt:lpstr>Příklad 2: Skalární a vektorový součin</vt:lpstr>
      <vt:lpstr>Příklad 3: Norma a úhel</vt:lpstr>
      <vt:lpstr>Příklad 4: Hodnota buňky v rastru</vt:lpstr>
      <vt:lpstr>Příklad 5: Sousední buňky v rastru </vt:lpstr>
      <vt:lpstr>Prezentace aplikace PowerPoint</vt:lpstr>
      <vt:lpstr>Příklad 7: Vyhledávač studentů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XXX</dc:creator>
  <cp:lastModifiedBy>XXX</cp:lastModifiedBy>
  <cp:revision>10</cp:revision>
  <dcterms:created xsi:type="dcterms:W3CDTF">2026-10-21T10:59:50Z</dcterms:created>
  <dcterms:modified xsi:type="dcterms:W3CDTF">2026-10-21T11:20:13Z</dcterms:modified>
</cp:coreProperties>
</file>